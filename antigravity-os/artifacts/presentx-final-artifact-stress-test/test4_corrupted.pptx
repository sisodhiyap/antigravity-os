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Welcome everyone. Today we are exploring a paradigm shift that will define the competitive landscape over the coming five years.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Text"/>
          <p:cNvSpPr/>
          <p:nvPr/>
        </p:nvSpPr>
        <p:spPr>
          <a:xfrm>
            <a:off x="432000" y="432000"/>
            <a:ext cx="5994400" cy="11328400"/>
          </a:xfrm>
          <a:prstGeom prst="rect">
            <a:avLst/>
          </a:prstGeom>
        </p:spPr>
        <p:txBody>
          <a:bodyPr/>
          <a:p>
            <a:r>
              <a:rPr sz="1200">
                <a:solidFill>
                  <a:srgbClr val="000000"/>
                </a:solidFill>
              </a:rPr>
              <a:t>Frame the context clearly. We are not talking about incremental optimization; this is a step-function transition in execution velocity.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1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1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Corruption resilience test deck</a:t>
            </a:r>
          </a:p>
        </p:txBody>
      </p:sp>
      <p:sp>
        <p:nvSpPr>
          <p:cNvPr id="1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A Visionary Strategic Blueprint for Executives, Investors, Stakeholders, and Strategic Partners</a:t>
            </a:r>
          </a:p>
          <a:p>
            <a:r>
              <a:rPr sz="1400">
                <a:solidFill>
                  <a:srgbClr val="F5F5F5"/>
                </a:solidFill>
              </a:rPr>
              <a:t>Transforming strategic ideas into verified, production-ready reality. Powered by Antigravity OS V7.</a:t>
            </a:r>
          </a:p>
        </p:txBody>
      </p:sp>
      <p:sp>
        <p:nvSpPr>
          <p:cNvPr id="1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Corruption resilience test deck • Slide 1 of 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0808"/>
          </a:solidFill>
        </p:spPr>
      </p:sp>
      <p:sp>
        <p:nvSpPr>
          <p:cNvPr id="22" name="TruthBadge"/>
          <p:cNvSpPr/>
          <p:nvPr/>
        </p:nvSpPr>
        <p:spPr>
          <a:xfrm>
            <a:off x="950000" y="600000"/>
            <a:ext cx="2400000" cy="380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D4AF37"/>
            </a:solidFill>
          </a:ln>
        </p:spPr>
        <p:txBody>
          <a:bodyPr anchor="ctr"/>
          <a:p>
            <a:pPr algn="ctr"/>
            <a:r>
              <a:rPr sz="1100" b="1">
                <a:solidFill>
                  <a:srgbClr val="D4AF37"/>
                </a:solidFill>
              </a:rPr>
              <a:t>VERIFIED</a:t>
            </a:r>
          </a:p>
        </p:txBody>
      </p:sp>
      <p:sp>
        <p:nvSpPr>
          <p:cNvPr id="23" name="Title"/>
          <p:cNvSpPr/>
          <p:nvPr/>
        </p:nvSpPr>
        <p:spPr>
          <a:xfrm>
            <a:off x="950000" y="1150000"/>
            <a:ext cx="10292000" cy="1100000"/>
          </a:xfrm>
          <a:prstGeom prst="rect">
            <a:avLst/>
          </a:prstGeom>
          <a:noFill/>
        </p:spPr>
        <p:txBody>
          <a:bodyPr wrap="square"/>
          <a:p>
            <a:r>
              <a:rPr sz="3200" b="1">
                <a:solidFill>
                  <a:srgbClr val="F5F5F5"/>
                </a:solidFill>
              </a:rPr>
              <a:t>The Macro Environment &amp; Shifting Paradigms</a:t>
            </a:r>
          </a:p>
        </p:txBody>
      </p:sp>
      <p:sp>
        <p:nvSpPr>
          <p:cNvPr id="24" name="ContentBody"/>
          <p:cNvSpPr/>
          <p:nvPr/>
        </p:nvSpPr>
        <p:spPr>
          <a:xfrm>
            <a:off x="950000" y="2400000"/>
            <a:ext cx="10292000" cy="3600000"/>
          </a:xfrm>
          <a:prstGeom prst="rect">
            <a:avLst/>
          </a:prstGeom>
          <a:noFill/>
        </p:spPr>
        <p:txBody>
          <a:bodyPr wrap="square"/>
          <a:p>
            <a:r>
              <a:rPr sz="1600" i="1">
                <a:solidFill>
                  <a:srgbClr val="D4AF37"/>
                </a:solidFill>
              </a:rPr>
              <a:t>Accelerating technological convergence across industry verticals</a:t>
            </a:r>
          </a:p>
          <a:p>
            <a:r>
              <a:rPr sz="1400">
                <a:solidFill>
                  <a:srgbClr val="F5F5F5"/>
                </a:solidFill>
              </a:rPr>
              <a:t>Traditional legacy workflows are reaching terminal velocity bottlenecks. Organizations that adapt to sovereign autonomous intelligence will unlock exponential operational leverage.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Legacy agency workflows face a 60% operational efficiency cap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Autonomous intelligence pipelines reduce turnaround from weeks to minutes</a:t>
            </a:r>
          </a:p>
          <a:p>
            <a:pPr marL="288000" indent="-288000"/>
            <a:r>
              <a:rPr sz="1400">
                <a:solidFill>
                  <a:srgbClr val="D4AF37"/>
                </a:solidFill>
              </a:rPr>
              <a:t>• </a:t>
            </a:r>
            <a:r>
              <a:rPr sz="1400">
                <a:solidFill>
                  <a:srgbClr val="F5F5F5"/>
                </a:solidFill>
              </a:rPr>
              <a:t>Deterministic validation guarantees zero-hallucination compliance</a:t>
            </a:r>
          </a:p>
        </p:txBody>
      </p:sp>
      <p:sp>
        <p:nvSpPr>
          <p:cNvPr id="25" name="Footer"/>
          <p:cNvSpPr/>
          <p:nvPr/>
        </p:nvSpPr>
        <p:spPr>
          <a:xfrm>
            <a:off x="950000" y="6200000"/>
            <a:ext cx="10292000" cy="400000"/>
          </a:xfrm>
          <a:prstGeom prst="rect">
            <a:avLst/>
          </a:prstGeom>
          <a:noFill/>
        </p:spPr>
        <p:txBody>
          <a:bodyPr/>
          <a:p>
            <a:r>
              <a:rPr sz="1000">
                <a:solidFill>
                  <a:srgbClr val="64748B"/>
                </a:solidFill>
              </a:rPr>
              <a:t>Corruption resilience test deck • Slide 2 of 2</a:t>
            </a:r>
          </a:p>
        </p:txBody>
      </p:sp>
    </p:spTree>
  </p:cSld>
</p:sld>
</file>

<file path=ppt/theme/theme1.xml><?xml version="1.0" encoding="utf-8"?>
<a:theme xmlns:a="http://schemas.openxmlformats.org/drawingml/2006/main" name="PresentX Sovereign Theme">
  <a:themeElements>
    <a:clrScheme name="PresentX">
      <a:dk1>
        <a:srgbClr val="080808"/>
      </a:dk1>
      <a:lt1>
        <a:srgbClr val="F5F5F5"/>
      </a:lt1>
      <a:dk2>
        <a:srgbClr val="1E293B"/>
      </a:dk2>
      <a:lt2>
        <a:srgbClr val="F1F5F9"/>
      </a:lt2>
      <a:accent1>
        <a:srgbClr val="D4AF37"/>
      </a:accent1>
      <a:accent2>
        <a:srgbClr val="38BDF8"/>
      </a:accent2>
      <a:accent3>
        <a:srgbClr val="10B981"/>
      </a:accent3>
      <a:accent4>
        <a:srgbClr val="F59E0B"/>
      </a:accent4>
      <a:accent5>
        <a:srgbClr val="8B5CF6"/>
      </a:accent5>
      <a:accent6>
        <a:srgbClr val="EC4899"/>
      </a:accent6>
      <a:hlink>
        <a:srgbClr val="D4AF37"/>
      </a:hlink>
      <a:folHlink>
        <a:srgbClr val="94A3B8"/>
      </a:folHlink>
    </a:clrScheme>
    <a:fontScheme name="PresentX Fonts">
      <a:majorFont>
        <a:latin typeface="Segoe UI Semibold"/>
      </a:majorFont>
      <a:minorFont>
        <a:latin typeface="Segoe UI"/>
      </a:minorFont>
    </a:fontScheme>
    <a:fmtScheme name="PresentX Format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Antigravity OS V7 PresentX</Application>
  <PresentationFormat>Widescreen</PresentationFormat>
  <Paragraphs>0</Paragraphs>
  <Slides>2</Slides>
  <Notes>2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PresentX Theme</vt:lpstr>
    </vt:vector>
  </TitlesOfParts>
  <Company>Antigravity Sovereign OS</Company>
  <LinksUpToDate>false</LinksUpToDate>
  <SharedDoc>false</SharedDoc>
  <HyperlinksChanged>false</HyperlinksChanged>
  <AppVersion>07.0000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Corruption resilience test deck</dc:title>
  <dc:creator>Antigravity OS V7 — PresentX Studio</dc:creator>
  <cp:lastModifiedBy>Antigravity OS V7</cp:lastModifiedBy>
  <dcterms:created xsi:type="dcterms:W3CDTF">2026-08-26T09:16:32.462Z</dcterms:created>
  <dcterms:modified xsi:type="dcterms:W3CDTF">2026-08-26T09:16:32.462Z</dcterms:modified>
</cp:coreProperties>
</file>